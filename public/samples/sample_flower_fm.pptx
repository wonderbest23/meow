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-3566160"/>
            <a:ext cx="7315200" cy="7315200"/>
          </a:xfrm>
          <a:prstGeom prst="ellipse">
            <a:avLst/>
          </a:prstGeom>
          <a:solidFill>
            <a:srgbClr val="2E9E6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80192" y="4791456"/>
            <a:ext cx="5669280" cy="5669280"/>
          </a:xfrm>
          <a:prstGeom prst="ellipse">
            <a:avLst/>
          </a:prstGeom>
          <a:solidFill>
            <a:srgbClr val="2E9E63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051560"/>
            <a:ext cx="2286000" cy="2286000"/>
          </a:xfrm>
          <a:prstGeom prst="ellipse">
            <a:avLst/>
          </a:prstGeom>
          <a:solidFill>
            <a:srgbClr val="2E9E63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6FCB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퇴근길·심야, 3분이면 꽃 한 송이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938528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무인으로 운영되는 화곡동 완제품 꽃다발 매장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5440680"/>
            <a:ext cx="566928" cy="566928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5468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5760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제안서 · 2026. 8. 12.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7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377440"/>
            <a:ext cx="6035040" cy="60350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937760"/>
            <a:ext cx="4023360" cy="402336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정의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화곡동 직장인·심야 수요층에게 25,000원 완제품 꽃다발을 24시간 무인 매장에서 판매합니다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339852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4069080"/>
            <a:ext cx="288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4498848"/>
            <a:ext cx="2886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꽃 중심 완제품 중형 꽃다발, 판매가 25,000원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5216" y="3794760"/>
            <a:ext cx="339852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51248" y="4069080"/>
            <a:ext cx="288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51248" y="4498848"/>
            <a:ext cx="2886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 선물·심야 급구·주말 홈데코 수요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4632" y="3794760"/>
            <a:ext cx="3398520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0664" y="4069080"/>
            <a:ext cx="288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0664" y="4498848"/>
            <a:ext cx="2886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화곡동 단일 24시간 무인 매장, 직원 없이 진열·즉시결제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FCB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4F5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대안은 하나씩 포기한다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꽃집·편의점·온라인 꽃배달 모두 즉시성 또는 시간대 커버리지를 포기합니다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816352"/>
            <a:ext cx="33985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108960"/>
            <a:ext cx="475488" cy="475488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785616"/>
            <a:ext cx="284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꽃집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4407408"/>
            <a:ext cx="2849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즉석 포장·상담 가능하지만 낮~저녁 시간대만 영업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5216" y="2816352"/>
            <a:ext cx="33985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9536" y="3108960"/>
            <a:ext cx="475488" cy="475488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9536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9536" y="3785616"/>
            <a:ext cx="284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편의점 꽃 코너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69536" y="4407408"/>
            <a:ext cx="2849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심야 접근은 되지만 물량 제한, 선물용 완성도 낮음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4632" y="2816352"/>
            <a:ext cx="33985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8952" y="3108960"/>
            <a:ext cx="475488" cy="475488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19" name="Text 17"/>
          <p:cNvSpPr/>
          <p:nvPr/>
        </p:nvSpPr>
        <p:spPr>
          <a:xfrm>
            <a:off x="8378952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8952" y="3785616"/>
            <a:ext cx="284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꽃배달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78952" y="4407408"/>
            <a:ext cx="2849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주문 가능하나 배송에 수시간~익일 소요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4F5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완제품, 3분 컷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4160520" cy="3566160"/>
          </a:xfrm>
          <a:prstGeom prst="roundRect">
            <a:avLst>
              <a:gd name="adj" fmla="val 3590"/>
            </a:avLst>
          </a:prstGeom>
          <a:solidFill>
            <a:srgbClr val="14291C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4389120"/>
            <a:ext cx="1920240" cy="1920240"/>
          </a:xfrm>
          <a:prstGeom prst="ellipse">
            <a:avLst/>
          </a:prstGeom>
          <a:solidFill>
            <a:srgbClr val="2E9E63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395728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상담·포장 대기 없이 완제품을 즉시 결제·수령하는 무인 매장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2386584"/>
            <a:ext cx="438912" cy="438912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21854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접근성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897880" y="258775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꽃집 영업 종료 후 퇴근길·심야 수요 흡수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320040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3575304"/>
            <a:ext cx="438912" cy="438912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33741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속도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97880" y="37764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진열로 체류 시간 최소화, 즉시 결제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438912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764024"/>
            <a:ext cx="438912" cy="438912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45628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지대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97880" y="496519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1km 내 20시 이후 오프라인 완제품 구매 불가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E4F5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상품·수익 구조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품목, 명확한 마진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25,000원 완제품 꽃다발 하나로 공헌이익 구조를 확정했습니다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88692" y="3410712"/>
            <a:ext cx="7211568" cy="0"/>
          </a:xfrm>
          <a:prstGeom prst="line">
            <a:avLst/>
          </a:prstGeom>
          <a:noFill/>
          <a:ln w="19050">
            <a:solidFill>
              <a:srgbClr val="E4F5E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077212" y="2999232"/>
            <a:ext cx="822960" cy="822960"/>
          </a:xfrm>
          <a:prstGeom prst="ellipse">
            <a:avLst/>
          </a:prstGeom>
          <a:solidFill>
            <a:srgbClr val="2E9E63"/>
          </a:solidFill>
          <a:ln w="19050">
            <a:solidFill>
              <a:srgbClr val="2E9E6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7212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" y="4041648"/>
            <a:ext cx="3386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판매가·원가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2104" y="4590288"/>
            <a:ext cx="3313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판매가 25,000원, 원가 11,000원(마진율 56%)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82996" y="2999232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6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82996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01312" y="4041648"/>
            <a:ext cx="3386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공헌이익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37888" y="4590288"/>
            <a:ext cx="3313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14,000원 — 계절별 원가 재산정 필요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8780" y="2999232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6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8780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07096" y="4041648"/>
            <a:ext cx="3386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매출원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3672" y="4590288"/>
            <a:ext cx="3313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화분 판매는 매출원으로 검토 중, 아직 미확정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-3566160"/>
            <a:ext cx="7315200" cy="7315200"/>
          </a:xfrm>
          <a:prstGeom prst="ellipse">
            <a:avLst/>
          </a:prstGeom>
          <a:solidFill>
            <a:srgbClr val="2E9E6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80192" y="4791456"/>
            <a:ext cx="5669280" cy="5669280"/>
          </a:xfrm>
          <a:prstGeom prst="ellipse">
            <a:avLst/>
          </a:prstGeom>
          <a:solidFill>
            <a:srgbClr val="2E9E63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051560"/>
            <a:ext cx="2286000" cy="2286000"/>
          </a:xfrm>
          <a:prstGeom prst="ellipse">
            <a:avLst/>
          </a:prstGeom>
          <a:solidFill>
            <a:srgbClr val="2E9E63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FCB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280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1호점 검증 후 프랜차이즈화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“5년 내 직영 3개 매장 확장 후 운영 시스템을 프랜차이즈로 전환합니다”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398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3977640"/>
            <a:ext cx="288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목표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4370832"/>
            <a:ext cx="288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키오스크 결제 450건 달성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95216" y="3703320"/>
            <a:ext cx="3398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51248" y="3977640"/>
            <a:ext cx="288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부차 목표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1248" y="4370832"/>
            <a:ext cx="288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재구매율 25% (식별 방법은 추후 확정)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4632" y="3703320"/>
            <a:ext cx="3398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0664" y="3977640"/>
            <a:ext cx="288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출구 형태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0664" y="4370832"/>
            <a:ext cx="288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 매각이 아닌 라이선스·가맹 구조로 전환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4F5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모델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손익분기와 1년 전망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공헌이익 14,000원 기준 손익분기는 월 179건입니다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44952"/>
            <a:ext cx="3398520" cy="2651760"/>
          </a:xfrm>
          <a:prstGeom prst="roundRect">
            <a:avLst>
              <a:gd name="adj" fmla="val 4828"/>
            </a:avLst>
          </a:prstGeom>
          <a:solidFill>
            <a:srgbClr val="14291C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3410712"/>
            <a:ext cx="281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공헌이익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3831336"/>
            <a:ext cx="281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14,000원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78408" y="4965192"/>
            <a:ext cx="2813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 56%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5216" y="3044952"/>
            <a:ext cx="3398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7824" y="3410712"/>
            <a:ext cx="281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7824" y="3831336"/>
            <a:ext cx="281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179건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87824" y="4965192"/>
            <a:ext cx="2813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4,475,000원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4632" y="3044952"/>
            <a:ext cx="3398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7240" y="3410712"/>
            <a:ext cx="281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매출·영업손익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7240" y="3831336"/>
            <a:ext cx="281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119,375,000원 / 36,850,000원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97240" y="4965192"/>
            <a:ext cx="2813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1개월차 흑자 전환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E4F5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실행·검증 계획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1호점 데이터로 확장 전제를 검증한다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4160520" cy="3566160"/>
          </a:xfrm>
          <a:prstGeom prst="roundRect">
            <a:avLst>
              <a:gd name="adj" fmla="val 3590"/>
            </a:avLst>
          </a:prstGeom>
          <a:solidFill>
            <a:srgbClr val="14291C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4389120"/>
            <a:ext cx="1920240" cy="1920240"/>
          </a:xfrm>
          <a:prstGeom prst="ellipse">
            <a:avLst/>
          </a:prstGeom>
          <a:solidFill>
            <a:srgbClr val="2E9E63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395728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2호점·3호점 확장은 1호점 성과 재현 여부에 전적으로 의존합니다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2386584"/>
            <a:ext cx="438912" cy="438912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21854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897880" y="258775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화곡동 1호점 결과를 다른 입지에 대입할 근거는 아직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320040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3575304"/>
            <a:ext cx="438912" cy="438912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33741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 자산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97880" y="37764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매뉴얼, 품종별 재고 회전·폐기율 데이터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438912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764024"/>
            <a:ext cx="438912" cy="438912"/>
          </a:xfrm>
          <a:prstGeom prst="ellipse">
            <a:avLst/>
          </a:prstGeom>
          <a:solidFill>
            <a:srgbClr val="E4F5EB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45628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고정비 점검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97880" y="496519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250만원 항목별 배분·키오스크 수수료 방식 확정 필요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-3566160"/>
            <a:ext cx="7315200" cy="7315200"/>
          </a:xfrm>
          <a:prstGeom prst="ellipse">
            <a:avLst/>
          </a:prstGeom>
          <a:solidFill>
            <a:srgbClr val="2E9E6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80192" y="4791456"/>
            <a:ext cx="5669280" cy="5669280"/>
          </a:xfrm>
          <a:prstGeom prst="ellipse">
            <a:avLst/>
          </a:prstGeom>
          <a:solidFill>
            <a:srgbClr val="2E9E63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051560"/>
            <a:ext cx="2286000" cy="2286000"/>
          </a:xfrm>
          <a:prstGeom prst="ellipse">
            <a:avLst/>
          </a:prstGeom>
          <a:solidFill>
            <a:srgbClr val="2E9E63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CB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창업 자금 3,000만원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자기자금 1,500만원과 정책자금 대출 1,500만원으로 설비·공사비를 충당합니다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399135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사용처  </a:t>
            </a:r>
            <a:pPr indent="0" marL="0">
              <a:buNone/>
            </a:pPr>
            <a:r>
              <a:rPr lang="en-US" sz="1350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 냉장 진열대·결제 키오스크·인테리어 공사비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636008"/>
            <a:ext cx="420624" cy="420624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4649724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</a:t>
            </a:r>
            <a:pPr indent="0" marL="0">
              <a:buNone/>
            </a:pPr>
            <a:r>
              <a:rPr lang="en-US" sz="1350" dirty="0">
                <a:solidFill>
                  <a:srgbClr val="CBE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정책자금 승인 조건 확인, 운영자금 별도 확보 방안 논의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무인꽃집 사업 제안서</dc:title>
  <dc:subject>PptxGenJS Presentation</dc:subject>
  <dc:creator>무인꽃집</dc:creator>
  <cp:lastModifiedBy>무인꽃집</cp:lastModifiedBy>
  <cp:revision>1</cp:revision>
  <dcterms:created xsi:type="dcterms:W3CDTF">2026-08-12T07:19:47Z</dcterms:created>
  <dcterms:modified xsi:type="dcterms:W3CDTF">2026-08-12T07:19:47Z</dcterms:modified>
</cp:coreProperties>
</file>