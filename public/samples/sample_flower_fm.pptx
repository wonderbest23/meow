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06256" y="-3566160"/>
            <a:ext cx="7315200" cy="7315200"/>
          </a:xfrm>
          <a:prstGeom prst="ellipse">
            <a:avLst/>
          </a:prstGeom>
          <a:solidFill>
            <a:srgbClr val="2E9E63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80192" y="4791456"/>
            <a:ext cx="5669280" cy="5669280"/>
          </a:xfrm>
          <a:prstGeom prst="ellipse">
            <a:avLst/>
          </a:prstGeom>
          <a:solidFill>
            <a:srgbClr val="2E9E63">
              <a:alpha val="9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1051560"/>
            <a:ext cx="2286000" cy="2286000"/>
          </a:xfrm>
          <a:prstGeom prst="ellipse">
            <a:avLst/>
          </a:prstGeom>
          <a:solidFill>
            <a:srgbClr val="2E9E63">
              <a:alpha val="2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8132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6FCB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퇴근길·심야, 3분이면 꽃 한 송이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1938528"/>
            <a:ext cx="9326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무인꽃집</a:t>
            </a:r>
            <a:endParaRPr lang="en-US" sz="4700" dirty="0"/>
          </a:p>
        </p:txBody>
      </p:sp>
      <p:sp>
        <p:nvSpPr>
          <p:cNvPr id="7" name="Text 5"/>
          <p:cNvSpPr/>
          <p:nvPr/>
        </p:nvSpPr>
        <p:spPr>
          <a:xfrm>
            <a:off x="868680" y="397764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BE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24시간 무인으로 운영되는 화곡동 완제품 꽃다발 매장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68680" y="5440680"/>
            <a:ext cx="566928" cy="566928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440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00200" y="54681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무인꽃집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00200" y="57607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제안서 · 2026. 8. 12.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7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2377440"/>
            <a:ext cx="6035040" cy="6035040"/>
          </a:xfrm>
          <a:prstGeom prst="ellipse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4023360" cy="4023360"/>
          </a:xfrm>
          <a:prstGeom prst="ellipse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7772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CBE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정의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132588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화곡동 직장인·심야 수요층에게 25,000원 완제품 꽃다발을 24시간 무인 매장에서 판매합니다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85800" y="3794760"/>
            <a:ext cx="3398520" cy="1965960"/>
          </a:xfrm>
          <a:prstGeom prst="roundRect">
            <a:avLst>
              <a:gd name="adj" fmla="val 6512"/>
            </a:avLst>
          </a:prstGeom>
          <a:solidFill>
            <a:srgbClr val="FFFFFF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41832" y="4069080"/>
            <a:ext cx="2886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7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41832" y="4498848"/>
            <a:ext cx="28864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 꽃 중심 완제품 중형 꽃다발, 판매가 25,000원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95216" y="3794760"/>
            <a:ext cx="3398520" cy="1965960"/>
          </a:xfrm>
          <a:prstGeom prst="roundRect">
            <a:avLst>
              <a:gd name="adj" fmla="val 6512"/>
            </a:avLst>
          </a:prstGeom>
          <a:solidFill>
            <a:srgbClr val="FFFFFF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51248" y="4069080"/>
            <a:ext cx="2886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7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누구에게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651248" y="4498848"/>
            <a:ext cx="28864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 선물·심야 급구·주말 홈데코 수요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04632" y="3794760"/>
            <a:ext cx="3398520" cy="1965960"/>
          </a:xfrm>
          <a:prstGeom prst="roundRect">
            <a:avLst>
              <a:gd name="adj" fmla="val 6512"/>
            </a:avLst>
          </a:prstGeom>
          <a:solidFill>
            <a:srgbClr val="FFFFFF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60664" y="4069080"/>
            <a:ext cx="2886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7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360664" y="4498848"/>
            <a:ext cx="28864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화곡동 단일 24시간 무인 매장, 직원 없이 진열·즉시결제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607040" y="6419088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FCB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310896"/>
            <a:ext cx="11494008" cy="603504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85800" y="530352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4F5EB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53035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10" kern="0" dirty="0">
                <a:solidFill>
                  <a:srgbClr val="1E7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987552"/>
            <a:ext cx="10789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대안은 하나씩 포기한다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꽃집·편의점·온라인 꽃배달 모두 즉시성 또는 시간대 커버리지를 포기합니다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2816352"/>
            <a:ext cx="3398520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60120" y="3108960"/>
            <a:ext cx="475488" cy="475488"/>
          </a:xfrm>
          <a:prstGeom prst="ellipse">
            <a:avLst/>
          </a:prstGeom>
          <a:solidFill>
            <a:srgbClr val="E4F5EB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108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7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3785616"/>
            <a:ext cx="284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꽃집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60120" y="4407408"/>
            <a:ext cx="284988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즉석 포장·상담 가능하지만 낮~저녁 시간대만 영업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95216" y="2816352"/>
            <a:ext cx="3398520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9536" y="3108960"/>
            <a:ext cx="475488" cy="475488"/>
          </a:xfrm>
          <a:prstGeom prst="ellipse">
            <a:avLst/>
          </a:prstGeom>
          <a:solidFill>
            <a:srgbClr val="E4F5EB"/>
          </a:solidFill>
          <a:ln/>
        </p:spPr>
      </p:sp>
      <p:sp>
        <p:nvSpPr>
          <p:cNvPr id="14" name="Text 12"/>
          <p:cNvSpPr/>
          <p:nvPr/>
        </p:nvSpPr>
        <p:spPr>
          <a:xfrm>
            <a:off x="4669536" y="3108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7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69536" y="3785616"/>
            <a:ext cx="284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편의점 꽃 코너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4669536" y="4407408"/>
            <a:ext cx="284988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심야 접근은 되지만 물량 제한, 선물용 완성도 낮음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04632" y="2816352"/>
            <a:ext cx="3398520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78952" y="3108960"/>
            <a:ext cx="475488" cy="475488"/>
          </a:xfrm>
          <a:prstGeom prst="ellipse">
            <a:avLst/>
          </a:prstGeom>
          <a:solidFill>
            <a:srgbClr val="E4F5EB"/>
          </a:solidFill>
          <a:ln/>
        </p:spPr>
      </p:sp>
      <p:sp>
        <p:nvSpPr>
          <p:cNvPr id="19" name="Text 17"/>
          <p:cNvSpPr/>
          <p:nvPr/>
        </p:nvSpPr>
        <p:spPr>
          <a:xfrm>
            <a:off x="8378952" y="3108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7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78952" y="3785616"/>
            <a:ext cx="284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꽃배달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8378952" y="4407408"/>
            <a:ext cx="284988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24시간 주문 가능하나 배송에 수시간~익일 소요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무인꽃집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607040" y="6419088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310896"/>
            <a:ext cx="11494008" cy="603504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85800" y="530352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4F5EB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53035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10" kern="0" dirty="0">
                <a:solidFill>
                  <a:srgbClr val="1E7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987552"/>
            <a:ext cx="10789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24시간 완제품, 3분 컷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85800" y="2011680"/>
            <a:ext cx="4160520" cy="3566160"/>
          </a:xfrm>
          <a:prstGeom prst="roundRect">
            <a:avLst>
              <a:gd name="adj" fmla="val 3590"/>
            </a:avLst>
          </a:prstGeom>
          <a:solidFill>
            <a:srgbClr val="14291C"/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520440" y="4389120"/>
            <a:ext cx="1920240" cy="1920240"/>
          </a:xfrm>
          <a:prstGeom prst="ellipse">
            <a:avLst/>
          </a:prstGeom>
          <a:solidFill>
            <a:srgbClr val="2E9E63">
              <a:alpha val="1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2395728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34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상담·포장 대기 없이 완제품을 즉시 결제·수령하는 무인 매장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257800" y="2386584"/>
            <a:ext cx="438912" cy="438912"/>
          </a:xfrm>
          <a:prstGeom prst="ellipse">
            <a:avLst/>
          </a:prstGeom>
          <a:solidFill>
            <a:srgbClr val="E4F5EB"/>
          </a:solidFill>
          <a:ln/>
        </p:spPr>
      </p:sp>
      <p:sp>
        <p:nvSpPr>
          <p:cNvPr id="10" name="Text 8"/>
          <p:cNvSpPr/>
          <p:nvPr/>
        </p:nvSpPr>
        <p:spPr>
          <a:xfrm>
            <a:off x="5257800" y="23865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7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897880" y="2185416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접근성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897880" y="258775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꽃집 영업 종료 후 퇴근길·심야 수요 흡수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97880" y="3200400"/>
            <a:ext cx="5577840" cy="0"/>
          </a:xfrm>
          <a:prstGeom prst="line">
            <a:avLst/>
          </a:prstGeom>
          <a:noFill/>
          <a:ln w="9525">
            <a:solidFill>
              <a:srgbClr val="E5E8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57800" y="3575304"/>
            <a:ext cx="438912" cy="438912"/>
          </a:xfrm>
          <a:prstGeom prst="ellipse">
            <a:avLst/>
          </a:prstGeom>
          <a:solidFill>
            <a:srgbClr val="E4F5EB"/>
          </a:solidFill>
          <a:ln/>
        </p:spPr>
      </p:sp>
      <p:sp>
        <p:nvSpPr>
          <p:cNvPr id="15" name="Text 13"/>
          <p:cNvSpPr/>
          <p:nvPr/>
        </p:nvSpPr>
        <p:spPr>
          <a:xfrm>
            <a:off x="5257800" y="35753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7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897880" y="3374136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속도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5897880" y="377647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완제품 진열로 체류 시간 최소화, 즉시 결제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97880" y="4389120"/>
            <a:ext cx="5577840" cy="0"/>
          </a:xfrm>
          <a:prstGeom prst="line">
            <a:avLst/>
          </a:prstGeom>
          <a:noFill/>
          <a:ln w="9525">
            <a:solidFill>
              <a:srgbClr val="E5E8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57800" y="4764024"/>
            <a:ext cx="438912" cy="438912"/>
          </a:xfrm>
          <a:prstGeom prst="ellipse">
            <a:avLst/>
          </a:prstGeom>
          <a:solidFill>
            <a:srgbClr val="E4F5EB"/>
          </a:solidFill>
          <a:ln/>
        </p:spPr>
      </p:sp>
      <p:sp>
        <p:nvSpPr>
          <p:cNvPr id="20" name="Text 18"/>
          <p:cNvSpPr/>
          <p:nvPr/>
        </p:nvSpPr>
        <p:spPr>
          <a:xfrm>
            <a:off x="5257800" y="47640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7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897880" y="4562856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공백 지대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5897880" y="496519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반경 1km 내 20시 이후 오프라인 완제품 구매 불가 확인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무인꽃집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607040" y="6419088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310896"/>
            <a:ext cx="11494008" cy="603504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85800" y="530352"/>
            <a:ext cx="1627632" cy="329184"/>
          </a:xfrm>
          <a:prstGeom prst="roundRect">
            <a:avLst>
              <a:gd name="adj" fmla="val 50000"/>
            </a:avLst>
          </a:prstGeom>
          <a:solidFill>
            <a:srgbClr val="E4F5EB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530352"/>
            <a:ext cx="1627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10" kern="0" dirty="0">
                <a:solidFill>
                  <a:srgbClr val="1E7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상품·수익 구조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987552"/>
            <a:ext cx="10789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품목, 명확한 마진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25,000원 완제품 꽃다발 하나로 공헌이익 구조를 확정했습니다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488692" y="3410712"/>
            <a:ext cx="7211568" cy="0"/>
          </a:xfrm>
          <a:prstGeom prst="line">
            <a:avLst/>
          </a:prstGeom>
          <a:noFill/>
          <a:ln w="19050">
            <a:solidFill>
              <a:srgbClr val="E4F5EB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077212" y="2999232"/>
            <a:ext cx="822960" cy="822960"/>
          </a:xfrm>
          <a:prstGeom prst="ellipse">
            <a:avLst/>
          </a:prstGeom>
          <a:solidFill>
            <a:srgbClr val="2E9E63"/>
          </a:solidFill>
          <a:ln w="19050">
            <a:solidFill>
              <a:srgbClr val="2E9E6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077212" y="299923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95528" y="4041648"/>
            <a:ext cx="3386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판매가·원가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32104" y="4590288"/>
            <a:ext cx="33131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판매가 25,000원, 원가 11,000원(마진율 56%)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82996" y="2999232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9E6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82996" y="299923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7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401312" y="4041648"/>
            <a:ext cx="3386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건당 공헌이익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437888" y="4590288"/>
            <a:ext cx="33131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14,000원 — 계절별 원가 재산정 필요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288780" y="2999232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9E6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88780" y="299923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7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007096" y="4041648"/>
            <a:ext cx="3386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매출원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043672" y="4590288"/>
            <a:ext cx="33131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화분 판매는 매출원으로 검토 중, 아직 미확정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무인꽃집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607040" y="6419088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9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06256" y="-3566160"/>
            <a:ext cx="7315200" cy="7315200"/>
          </a:xfrm>
          <a:prstGeom prst="ellipse">
            <a:avLst/>
          </a:prstGeom>
          <a:solidFill>
            <a:srgbClr val="2E9E63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80192" y="4791456"/>
            <a:ext cx="5669280" cy="5669280"/>
          </a:xfrm>
          <a:prstGeom prst="ellipse">
            <a:avLst/>
          </a:prstGeom>
          <a:solidFill>
            <a:srgbClr val="2E9E63">
              <a:alpha val="9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1051560"/>
            <a:ext cx="2286000" cy="2286000"/>
          </a:xfrm>
          <a:prstGeom prst="ellipse">
            <a:avLst/>
          </a:prstGeom>
          <a:solidFill>
            <a:srgbClr val="2E9E63">
              <a:alpha val="2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7772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FCB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28016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1호점 검증 후 프랜차이즈화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68680" y="2286000"/>
            <a:ext cx="9692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b="1" dirty="0">
                <a:solidFill>
                  <a:srgbClr val="CBE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“5년 내 직영 3개 매장 확장 후 운영 시스템을 프랜차이즈로 전환합니다”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85800" y="3703320"/>
            <a:ext cx="3398520" cy="2011680"/>
          </a:xfrm>
          <a:prstGeom prst="roundRect">
            <a:avLst>
              <a:gd name="adj" fmla="val 6364"/>
            </a:avLst>
          </a:prstGeom>
          <a:solidFill>
            <a:srgbClr val="FFFFFF">
              <a:alpha val="94000"/>
            </a:srgbClr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41832" y="3977640"/>
            <a:ext cx="2886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7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1년차 목표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41832" y="4370832"/>
            <a:ext cx="2886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키오스크 결제 450건 달성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95216" y="3703320"/>
            <a:ext cx="3398520" cy="2011680"/>
          </a:xfrm>
          <a:prstGeom prst="roundRect">
            <a:avLst>
              <a:gd name="adj" fmla="val 6364"/>
            </a:avLst>
          </a:prstGeom>
          <a:solidFill>
            <a:srgbClr val="FFFFFF">
              <a:alpha val="94000"/>
            </a:srgbClr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51248" y="3977640"/>
            <a:ext cx="2886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7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부차 목표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1248" y="4370832"/>
            <a:ext cx="2886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재구매율 25% (식별 방법은 추후 확정)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04632" y="3703320"/>
            <a:ext cx="3398520" cy="2011680"/>
          </a:xfrm>
          <a:prstGeom prst="roundRect">
            <a:avLst>
              <a:gd name="adj" fmla="val 6364"/>
            </a:avLst>
          </a:prstGeom>
          <a:solidFill>
            <a:srgbClr val="FFFFFF">
              <a:alpha val="94000"/>
            </a:srgbClr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60664" y="3977640"/>
            <a:ext cx="2886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7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출구 형태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60664" y="4370832"/>
            <a:ext cx="2886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지분 매각이 아닌 라이선스·가맹 구조로 전환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0607040" y="6419088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FA6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310896"/>
            <a:ext cx="11494008" cy="603504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85800" y="53035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4F5EB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530352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10" kern="0" dirty="0">
                <a:solidFill>
                  <a:srgbClr val="1E7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 모델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987552"/>
            <a:ext cx="10789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손익분기와 1년 전망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건당 공헌이익 14,000원 기준 손익분기는 월 179건입니다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3044952"/>
            <a:ext cx="3398520" cy="2651760"/>
          </a:xfrm>
          <a:prstGeom prst="roundRect">
            <a:avLst>
              <a:gd name="adj" fmla="val 4828"/>
            </a:avLst>
          </a:prstGeom>
          <a:solidFill>
            <a:srgbClr val="14291C"/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78408" y="3410712"/>
            <a:ext cx="2813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B4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건당 공헌이익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3831336"/>
            <a:ext cx="2813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14,000원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978408" y="4965192"/>
            <a:ext cx="2813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CBE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이익률 56%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95216" y="3044952"/>
            <a:ext cx="339852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87824" y="3410712"/>
            <a:ext cx="2813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손익분기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87824" y="3831336"/>
            <a:ext cx="2813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179건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4687824" y="4965192"/>
            <a:ext cx="2813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4,475,000원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04632" y="3044952"/>
            <a:ext cx="339852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97240" y="3410712"/>
            <a:ext cx="2813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매출·영업손익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397240" y="3831336"/>
            <a:ext cx="2813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119,375,000원 / 36,850,000원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397240" y="4965192"/>
            <a:ext cx="2813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1개월차 흑자 전환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무인꽃집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07040" y="6419088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310896"/>
            <a:ext cx="11494008" cy="603504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85800" y="530352"/>
            <a:ext cx="1627632" cy="329184"/>
          </a:xfrm>
          <a:prstGeom prst="roundRect">
            <a:avLst>
              <a:gd name="adj" fmla="val 50000"/>
            </a:avLst>
          </a:prstGeom>
          <a:solidFill>
            <a:srgbClr val="E4F5EB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530352"/>
            <a:ext cx="1627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10" kern="0" dirty="0">
                <a:solidFill>
                  <a:srgbClr val="1E7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실행·검증 계획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987552"/>
            <a:ext cx="10789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1호점 데이터로 확장 전제를 검증한다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85800" y="2011680"/>
            <a:ext cx="4160520" cy="3566160"/>
          </a:xfrm>
          <a:prstGeom prst="roundRect">
            <a:avLst>
              <a:gd name="adj" fmla="val 3590"/>
            </a:avLst>
          </a:prstGeom>
          <a:solidFill>
            <a:srgbClr val="14291C"/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520440" y="4389120"/>
            <a:ext cx="1920240" cy="1920240"/>
          </a:xfrm>
          <a:prstGeom prst="ellipse">
            <a:avLst/>
          </a:prstGeom>
          <a:solidFill>
            <a:srgbClr val="2E9E63">
              <a:alpha val="1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2395728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34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2호점·3호점 확장은 1호점 성과 재현 여부에 전적으로 의존합니다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257800" y="2386584"/>
            <a:ext cx="438912" cy="438912"/>
          </a:xfrm>
          <a:prstGeom prst="ellipse">
            <a:avLst/>
          </a:prstGeom>
          <a:solidFill>
            <a:srgbClr val="E4F5EB"/>
          </a:solidFill>
          <a:ln/>
        </p:spPr>
      </p:sp>
      <p:sp>
        <p:nvSpPr>
          <p:cNvPr id="10" name="Text 8"/>
          <p:cNvSpPr/>
          <p:nvPr/>
        </p:nvSpPr>
        <p:spPr>
          <a:xfrm>
            <a:off x="5257800" y="23865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7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897880" y="2185416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리스크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897880" y="258775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화곡동 1호점 결과를 다른 입지에 대입할 근거는 아직 없음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97880" y="3200400"/>
            <a:ext cx="5577840" cy="0"/>
          </a:xfrm>
          <a:prstGeom prst="line">
            <a:avLst/>
          </a:prstGeom>
          <a:noFill/>
          <a:ln w="9525">
            <a:solidFill>
              <a:srgbClr val="E5E8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57800" y="3575304"/>
            <a:ext cx="438912" cy="438912"/>
          </a:xfrm>
          <a:prstGeom prst="ellipse">
            <a:avLst/>
          </a:prstGeom>
          <a:solidFill>
            <a:srgbClr val="E4F5EB"/>
          </a:solidFill>
          <a:ln/>
        </p:spPr>
      </p:sp>
      <p:sp>
        <p:nvSpPr>
          <p:cNvPr id="15" name="Text 13"/>
          <p:cNvSpPr/>
          <p:nvPr/>
        </p:nvSpPr>
        <p:spPr>
          <a:xfrm>
            <a:off x="5257800" y="35753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7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897880" y="3374136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축적 자산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5897880" y="377647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매뉴얼, 품종별 재고 회전·폐기율 데이터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97880" y="4389120"/>
            <a:ext cx="5577840" cy="0"/>
          </a:xfrm>
          <a:prstGeom prst="line">
            <a:avLst/>
          </a:prstGeom>
          <a:noFill/>
          <a:ln w="9525">
            <a:solidFill>
              <a:srgbClr val="E5E8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57800" y="4764024"/>
            <a:ext cx="438912" cy="438912"/>
          </a:xfrm>
          <a:prstGeom prst="ellipse">
            <a:avLst/>
          </a:prstGeom>
          <a:solidFill>
            <a:srgbClr val="E4F5EB"/>
          </a:solidFill>
          <a:ln/>
        </p:spPr>
      </p:sp>
      <p:sp>
        <p:nvSpPr>
          <p:cNvPr id="20" name="Text 18"/>
          <p:cNvSpPr/>
          <p:nvPr/>
        </p:nvSpPr>
        <p:spPr>
          <a:xfrm>
            <a:off x="5257800" y="47640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7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897880" y="4562856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고정비 점검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5897880" y="496519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250만원 항목별 배분·키오스크 수수료 방식 확정 필요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무인꽃집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607040" y="6419088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9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06256" y="-3566160"/>
            <a:ext cx="7315200" cy="7315200"/>
          </a:xfrm>
          <a:prstGeom prst="ellipse">
            <a:avLst/>
          </a:prstGeom>
          <a:solidFill>
            <a:srgbClr val="2E9E63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80192" y="4791456"/>
            <a:ext cx="5669280" cy="5669280"/>
          </a:xfrm>
          <a:prstGeom prst="ellipse">
            <a:avLst/>
          </a:prstGeom>
          <a:solidFill>
            <a:srgbClr val="2E9E63">
              <a:alpha val="9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1051560"/>
            <a:ext cx="2286000" cy="2286000"/>
          </a:xfrm>
          <a:prstGeom prst="ellipse">
            <a:avLst/>
          </a:prstGeom>
          <a:solidFill>
            <a:srgbClr val="2E9E63">
              <a:alpha val="2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2344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FCB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691640"/>
            <a:ext cx="9509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창업 자금 3,000만원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BE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자기자금 1,500만원과 정책자금 대출 1,500만원으로 설비·공사비를 충당합니다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68680" y="3977640"/>
            <a:ext cx="420624" cy="420624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977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81328" y="3991356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사용처  </a:t>
            </a:r>
            <a:pPr indent="0" marL="0">
              <a:buNone/>
            </a:pPr>
            <a:r>
              <a:rPr lang="en-US" sz="1350" dirty="0">
                <a:solidFill>
                  <a:srgbClr val="CBE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 냉장 진열대·결제 키오스크·인테리어 공사비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68680" y="4636008"/>
            <a:ext cx="420624" cy="420624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4636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81328" y="464972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  </a:t>
            </a:r>
            <a:pPr indent="0" marL="0">
              <a:buNone/>
            </a:pPr>
            <a:r>
              <a:rPr lang="en-US" sz="1350" dirty="0">
                <a:solidFill>
                  <a:srgbClr val="CBE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정책자금 승인 조건 확인, 운영자금 별도 확보 방안 논의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68680" y="6172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6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무인꽃집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무인꽃집 사업 제안서</dc:title>
  <dc:subject>PptxGenJS Presentation</dc:subject>
  <dc:creator>무인꽃집</dc:creator>
  <cp:lastModifiedBy>무인꽃집</cp:lastModifiedBy>
  <cp:revision>1</cp:revision>
  <dcterms:created xsi:type="dcterms:W3CDTF">2026-08-12T06:49:06Z</dcterms:created>
  <dcterms:modified xsi:type="dcterms:W3CDTF">2026-08-12T06:49:06Z</dcterms:modified>
</cp:coreProperties>
</file>