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456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456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456A6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7FA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시간에도 열려있는 꽃집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938528"/>
            <a:ext cx="9326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 사업계획서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강서구, 24시간 무인 셀프 꽃집 창업 계획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5440680"/>
            <a:ext cx="566928" cy="566928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440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54681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5760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제안서 · 2026. 8. 12.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377440"/>
            <a:ext cx="6035040" cy="60350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937760"/>
            <a:ext cx="4023360" cy="402336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소개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강서구 직장인에게 24시간 무인 매장에서 꽃다발을 2만원대 고정가로 판다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471166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4069080"/>
            <a:ext cx="19591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41832" y="4498848"/>
            <a:ext cx="195910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꽃다발·화분·드라이플라워 3개 품목군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67862" y="3794760"/>
            <a:ext cx="2471166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23894" y="4069080"/>
            <a:ext cx="19591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23894" y="4498848"/>
            <a:ext cx="195910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강서구 20~40대 직장인, 퇴근길 선물 수요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9924" y="3794760"/>
            <a:ext cx="2471166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05956" y="4069080"/>
            <a:ext cx="19591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05956" y="4498848"/>
            <a:ext cx="195910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화곡동 단일 무인 매장, 키오스크 셀프결제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31986" y="3794760"/>
            <a:ext cx="2471166" cy="1965960"/>
          </a:xfrm>
          <a:prstGeom prst="roundRect">
            <a:avLst>
              <a:gd name="adj" fmla="val 6512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8018" y="4069080"/>
            <a:ext cx="19591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88018" y="4498848"/>
            <a:ext cx="195910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상품 중형 꽃다발 25,000원 고정가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FA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042416" cy="329184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문제인식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심야엔 문 연 꽃집이 없다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꽃집·편의점·온라인배송 모두 '지금 당장'을 채우지 못한다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108960"/>
            <a:ext cx="475488" cy="475488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영업시간 공백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0120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1km 꽃집 4곳 모두 20시 이전 마감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5216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9536" y="3108960"/>
            <a:ext cx="475488" cy="475488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9536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9536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대안의 한계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69536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편의점 꽃은 품목 제한, 온라인 배송은 즉시수령 불가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4632" y="2816352"/>
            <a:ext cx="339852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8952" y="3108960"/>
            <a:ext cx="475488" cy="475488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9" name="Text 17"/>
          <p:cNvSpPr/>
          <p:nvPr/>
        </p:nvSpPr>
        <p:spPr>
          <a:xfrm>
            <a:off x="8378952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78952" y="3785616"/>
            <a:ext cx="284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불확실성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78952" y="4407408"/>
            <a:ext cx="28498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매장·시기별 가격 상이해 즉흥 구매를 망설이게 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실현가능성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3년 경력과 단일 구조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4160520" cy="3566160"/>
          </a:xfrm>
          <a:prstGeom prst="roundRect">
            <a:avLst>
              <a:gd name="adj" fmla="val 3590"/>
            </a:avLst>
          </a:prstGeom>
          <a:solidFill>
            <a:srgbClr val="102A43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4389120"/>
            <a:ext cx="1920240" cy="1920240"/>
          </a:xfrm>
          <a:prstGeom prst="ellipse">
            <a:avLst/>
          </a:prstGeom>
          <a:solidFill>
            <a:srgbClr val="2456A6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395728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소싱 역량과 단일 채널 구조로 무인 운영의 리스크를 관리한다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238658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21854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역량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97880" y="25877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도매 매입 경력 3년, 원가관리·신선도 판단 직접 수행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320040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357530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374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구조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37764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체제, 판매기록은 키오스크 결제 로그로 단일 집계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438912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76402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4562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설계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97880" y="496519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매입원가 11,000원 대비 판매가 25,000원, 시세 교차검증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79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인근 시세 실측 조사와 매입처 확보는 개점 준비 단계에서 보완 예정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456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456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456A6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7FA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280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안에 하루 15건, 재구매 25%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“심야 시간의 구매 공백을 채우는 무인 꽃집 표준을 만든다”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목표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12개월차 월간 키오스크 결제 450건(일 평균 15건)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95216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1248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재구매 목표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1248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12개월차 재구매율 25% 달성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4632" y="3703320"/>
            <a:ext cx="339852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94000"/>
            </a:srgbClr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0664" y="3977640"/>
            <a:ext cx="288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 목표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0664" y="4370832"/>
            <a:ext cx="2886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예상 손익분기 도달 시점 6개월차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335024" cy="329184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시장과 고객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 6~10시, 수요와 공백이 겹치는 시간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목적과 시간대로 시장을 나누고, 퇴근길 수요를 1순위로 잡았다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88692" y="3410712"/>
            <a:ext cx="7211568" cy="0"/>
          </a:xfrm>
          <a:prstGeom prst="line">
            <a:avLst/>
          </a:prstGeom>
          <a:noFill/>
          <a:ln w="19050">
            <a:solidFill>
              <a:srgbClr val="E7EEF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077212" y="2999232"/>
            <a:ext cx="822960" cy="822960"/>
          </a:xfrm>
          <a:prstGeom prst="ellipse">
            <a:avLst/>
          </a:prstGeom>
          <a:solidFill>
            <a:srgbClr val="2456A6"/>
          </a:solidFill>
          <a:ln w="19050">
            <a:solidFill>
              <a:srgbClr val="2456A6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77212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타깃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2104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강서구 20~40대 직장인, 퇴근길 갑작스러운 선물 수요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82996" y="2999232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6A6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2996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01312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37888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퇴근길·심야급구·주말 홈데코 3개 시간대 기준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8780" y="2999232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56A6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8780" y="2999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07096" y="4041648"/>
            <a:ext cx="3386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근거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043672" y="4590288"/>
            <a:ext cx="33131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 6~10시 유동인구 최대, 기존 꽃집 마감시간과 겹침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779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 규모는 가설이며, 개점 후 결제 로그로 검증할 계획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계획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179건이면 손익분기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판매가 25,000원, 변동비 11,000원 구조로 산출한 단위경제다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102A43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4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공헌이익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14,000원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78408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이익률 56%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5216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7824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7824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179건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87824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4,475,000원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4632" y="3044952"/>
            <a:ext cx="339852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97240" y="3410712"/>
            <a:ext cx="2813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매출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7240" y="3831336"/>
            <a:ext cx="2813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119,375,000원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97240" y="4965192"/>
            <a:ext cx="2813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합계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779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영업손익 36,850,000원(1개월차 월 흑자 전환 가정), 고정비 월 250만원 기준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10896"/>
            <a:ext cx="11494008" cy="60350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85800" y="53035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303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987552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1인이 전 과정을 전담한다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4160520" cy="3566160"/>
          </a:xfrm>
          <a:prstGeom prst="roundRect">
            <a:avLst>
              <a:gd name="adj" fmla="val 3590"/>
            </a:avLst>
          </a:prstGeom>
          <a:solidFill>
            <a:srgbClr val="102A43"/>
          </a:solidFill>
          <a:ln/>
          <a:effectLst>
            <a:outerShdw sx="100000" sy="100000" kx="0" ky="0" algn="bl" rotWithShape="0" blurRad="127000" dist="38100" dir="5400000">
              <a:srgbClr val="1B2B44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20440" y="4389120"/>
            <a:ext cx="1920240" cy="1920240"/>
          </a:xfrm>
          <a:prstGeom prst="ellipse">
            <a:avLst/>
          </a:prstGeom>
          <a:solidFill>
            <a:srgbClr val="2456A6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395728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 없는 1인 체제로 소싱부터 점검까지 직접 수행한다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238658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97880" y="21854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범위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897880" y="258775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매입·진열·키오스크 점검·재고·폐기 전 과정 전담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320040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357530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3741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기반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377647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 도매 매입 경력 3년, 원가·신선도 판단 역량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4389120"/>
            <a:ext cx="5577840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4764024"/>
            <a:ext cx="438912" cy="438912"/>
          </a:xfrm>
          <a:prstGeom prst="ellipse">
            <a:avLst/>
          </a:prstGeom>
          <a:solidFill>
            <a:srgbClr val="E7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F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97880" y="45628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관리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97880" y="496519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점검 체크리스트로 매장 상태 통제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79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부재 시 대응 인력·원격 모니터링 체계는 추가 보완 필요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07040" y="641908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6256" y="-3566160"/>
            <a:ext cx="7315200" cy="7315200"/>
          </a:xfrm>
          <a:prstGeom prst="ellipse">
            <a:avLst/>
          </a:prstGeom>
          <a:solidFill>
            <a:srgbClr val="2456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80192" y="4791456"/>
            <a:ext cx="5669280" cy="5669280"/>
          </a:xfrm>
          <a:prstGeom prst="ellipse">
            <a:avLst/>
          </a:prstGeom>
          <a:solidFill>
            <a:srgbClr val="2456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051560"/>
            <a:ext cx="2286000" cy="2286000"/>
          </a:xfrm>
          <a:prstGeom prst="ellipse">
            <a:avLst/>
          </a:prstGeom>
          <a:solidFill>
            <a:srgbClr val="2456A6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FA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정책자금 1,500만원을 요청합니다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3,000만원으로 냉장진열대·키오스크·인테리어를 구축한다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399135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소요자금  </a:t>
            </a:r>
            <a:pPr indent="0" marL="0">
              <a:buNone/>
            </a:pPr>
            <a:r>
              <a:rPr lang="en-US" sz="135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3,000만원(자기자금 1,500만원 + 정책자금 1,500만원)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636008"/>
            <a:ext cx="420624" cy="420624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81328" y="4649724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용도  </a:t>
            </a:r>
            <a:pPr indent="0" marL="0">
              <a:buNone/>
            </a:pPr>
            <a:r>
              <a:rPr lang="en-US" sz="135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 냉장진열대, 결제 키오스크, 인테리어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294376"/>
            <a:ext cx="420624" cy="420624"/>
          </a:xfrm>
          <a:prstGeom prst="ellipse">
            <a:avLst/>
          </a:prstGeom>
          <a:solidFill>
            <a:srgbClr val="2456A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5308092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순서  </a:t>
            </a:r>
            <a:pPr indent="0" marL="0">
              <a:buNone/>
            </a:pPr>
            <a:r>
              <a:rPr lang="en-US" sz="1350" dirty="0">
                <a:solidFill>
                  <a:srgbClr val="CB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자기자금 선투입, 정책자금은 개업 후 운영자금(매입)에 배정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무인꽃집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무인꽃집 사업 제안서</dc:title>
  <dc:subject>PptxGenJS Presentation</dc:subject>
  <dc:creator>무인꽃집</dc:creator>
  <cp:lastModifiedBy>무인꽃집</cp:lastModifiedBy>
  <cp:revision>1</cp:revision>
  <dcterms:created xsi:type="dcterms:W3CDTF">2026-08-12T06:49:06Z</dcterms:created>
  <dcterms:modified xsi:type="dcterms:W3CDTF">2026-08-12T06:49:06Z</dcterms:modified>
</cp:coreProperties>
</file>